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25AEB-0542-4CD2-9E69-1711D65D4938}" v="1" dt="2026-03-29T05:58:50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esh b" userId="420866189d7905e7" providerId="LiveId" clId="{D8B76206-CA32-4D91-8406-ED0780EA2A24}"/>
    <pc:docChg chg="custSel addSld modSld">
      <pc:chgData name="madesh b" userId="420866189d7905e7" providerId="LiveId" clId="{D8B76206-CA32-4D91-8406-ED0780EA2A24}" dt="2026-03-29T05:59:16.275" v="28" actId="14100"/>
      <pc:docMkLst>
        <pc:docMk/>
      </pc:docMkLst>
      <pc:sldChg chg="delSp modSp add mod">
        <pc:chgData name="madesh b" userId="420866189d7905e7" providerId="LiveId" clId="{D8B76206-CA32-4D91-8406-ED0780EA2A24}" dt="2026-03-29T05:59:16.275" v="28" actId="14100"/>
        <pc:sldMkLst>
          <pc:docMk/>
          <pc:sldMk cId="424230328" sldId="268"/>
        </pc:sldMkLst>
        <pc:spChg chg="mod">
          <ac:chgData name="madesh b" userId="420866189d7905e7" providerId="LiveId" clId="{D8B76206-CA32-4D91-8406-ED0780EA2A24}" dt="2026-03-29T05:58:19.849" v="24" actId="1076"/>
          <ac:spMkLst>
            <pc:docMk/>
            <pc:sldMk cId="424230328" sldId="268"/>
            <ac:spMk id="6" creationId="{BC7E94DF-CF63-2C2F-B67F-8A3E514170D2}"/>
          </ac:spMkLst>
        </pc:spChg>
        <pc:spChg chg="mod">
          <ac:chgData name="madesh b" userId="420866189d7905e7" providerId="LiveId" clId="{D8B76206-CA32-4D91-8406-ED0780EA2A24}" dt="2026-03-29T05:59:16.275" v="28" actId="14100"/>
          <ac:spMkLst>
            <pc:docMk/>
            <pc:sldMk cId="424230328" sldId="268"/>
            <ac:spMk id="7" creationId="{A42C6B1B-0F50-BEF7-1F47-6C75DC2B31EE}"/>
          </ac:spMkLst>
        </pc:spChg>
        <pc:spChg chg="mod">
          <ac:chgData name="madesh b" userId="420866189d7905e7" providerId="LiveId" clId="{D8B76206-CA32-4D91-8406-ED0780EA2A24}" dt="2026-03-29T05:57:53.377" v="12" actId="6549"/>
          <ac:spMkLst>
            <pc:docMk/>
            <pc:sldMk cId="424230328" sldId="268"/>
            <ac:spMk id="8" creationId="{B6FA6F6D-D427-1E77-25C0-AE7E7A73A37D}"/>
          </ac:spMkLst>
        </pc:spChg>
        <pc:spChg chg="del">
          <ac:chgData name="madesh b" userId="420866189d7905e7" providerId="LiveId" clId="{D8B76206-CA32-4D91-8406-ED0780EA2A24}" dt="2026-03-29T05:57:47.422" v="10" actId="478"/>
          <ac:spMkLst>
            <pc:docMk/>
            <pc:sldMk cId="424230328" sldId="268"/>
            <ac:spMk id="9" creationId="{8525C7EB-F8A9-A611-DCB4-83524A041153}"/>
          </ac:spMkLst>
        </pc:spChg>
        <pc:spChg chg="mod">
          <ac:chgData name="madesh b" userId="420866189d7905e7" providerId="LiveId" clId="{D8B76206-CA32-4D91-8406-ED0780EA2A24}" dt="2026-03-29T05:57:44.903" v="9" actId="6549"/>
          <ac:spMkLst>
            <pc:docMk/>
            <pc:sldMk cId="424230328" sldId="268"/>
            <ac:spMk id="10" creationId="{E10B4355-B7DE-5932-9704-0EC0DB3A63BF}"/>
          </ac:spMkLst>
        </pc:spChg>
        <pc:spChg chg="mod">
          <ac:chgData name="madesh b" userId="420866189d7905e7" providerId="LiveId" clId="{D8B76206-CA32-4D91-8406-ED0780EA2A24}" dt="2026-03-29T05:57:39.670" v="7" actId="6549"/>
          <ac:spMkLst>
            <pc:docMk/>
            <pc:sldMk cId="424230328" sldId="268"/>
            <ac:spMk id="11" creationId="{ECBD421D-D0E0-6721-5F0B-60C5FDBA97E1}"/>
          </ac:spMkLst>
        </pc:spChg>
        <pc:spChg chg="del">
          <ac:chgData name="madesh b" userId="420866189d7905e7" providerId="LiveId" clId="{D8B76206-CA32-4D91-8406-ED0780EA2A24}" dt="2026-03-29T05:57:34.918" v="5" actId="478"/>
          <ac:spMkLst>
            <pc:docMk/>
            <pc:sldMk cId="424230328" sldId="268"/>
            <ac:spMk id="12" creationId="{28E9B38D-5EA5-0438-A3AA-23D1EDD8F430}"/>
          </ac:spMkLst>
        </pc:spChg>
        <pc:spChg chg="del">
          <ac:chgData name="madesh b" userId="420866189d7905e7" providerId="LiveId" clId="{D8B76206-CA32-4D91-8406-ED0780EA2A24}" dt="2026-03-29T05:57:07.655" v="2" actId="478"/>
          <ac:spMkLst>
            <pc:docMk/>
            <pc:sldMk cId="424230328" sldId="268"/>
            <ac:spMk id="13" creationId="{E3B4E5B0-E891-36CB-C110-05F6AAB48807}"/>
          </ac:spMkLst>
        </pc:spChg>
        <pc:spChg chg="mod">
          <ac:chgData name="madesh b" userId="420866189d7905e7" providerId="LiveId" clId="{D8B76206-CA32-4D91-8406-ED0780EA2A24}" dt="2026-03-29T05:57:20.590" v="4" actId="6549"/>
          <ac:spMkLst>
            <pc:docMk/>
            <pc:sldMk cId="424230328" sldId="268"/>
            <ac:spMk id="14" creationId="{098FCA59-5655-7FC7-579B-CE2251E472FC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15" creationId="{3C11F84A-996F-ED3C-9EDD-F126773567AD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16" creationId="{D9BC0BBD-24B5-532D-D057-5569B17FD79C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17" creationId="{DCA270D6-D4A5-7C11-6F77-E231A2E420D8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18" creationId="{B0CC7EA7-C6F7-02F3-F144-51143EC9A8CE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19" creationId="{1CFDCF8E-7811-54C9-ED57-ECA197D1B763}"/>
          </ac:spMkLst>
        </pc:spChg>
        <pc:spChg chg="del">
          <ac:chgData name="madesh b" userId="420866189d7905e7" providerId="LiveId" clId="{D8B76206-CA32-4D91-8406-ED0780EA2A24}" dt="2026-03-29T05:57:02.657" v="1" actId="478"/>
          <ac:spMkLst>
            <pc:docMk/>
            <pc:sldMk cId="424230328" sldId="268"/>
            <ac:spMk id="20" creationId="{E56F9216-737E-3CD6-D73A-9182F845453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DA-43A6-BA9F-0C8B2F318E3C}"/>
              </c:ext>
            </c:extLst>
          </c:dPt>
          <c:dPt>
            <c:idx val="1"/>
            <c:invertIfNegative val="0"/>
            <c:bubble3D val="0"/>
            <c:spPr>
              <a:solidFill>
                <a:srgbClr val="00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DA-43A6-BA9F-0C8B2F318E3C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DA-43A6-BA9F-0C8B2F318E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2"/>
                <c:pt idx="0">
                  <c:v>Alarm Accuracy</c:v>
                </c:pt>
                <c:pt idx="1">
                  <c:v>Dispensing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FDA-43A6-BA9F-0C8B2F318E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1E36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5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05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0EF1-E1C7-4528-B38E-FF631537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7A350-8052-C1E8-0163-1BD0B6A25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9470F-C546-F3CD-25FC-A407D80BC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BB050-5985-F682-9737-D9023C644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96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09728" cy="47548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IoT-Enabled Smart Medication Adherence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Sensor-Based Verification and Automated Dispensing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Kishore. K  |  Madesh. B  |  Narain Kishore. 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Coordinator &amp; Guide: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T. Kiruba Devi |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Mr.Surya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Dr. M. Chandran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Data Science 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298448" cy="256032"/>
          </a:xfrm>
          <a:prstGeom prst="rect">
            <a:avLst/>
          </a:prstGeom>
          <a:solidFill>
            <a:srgbClr val="16254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Healthcare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1298448" cy="256032"/>
          </a:xfrm>
          <a:prstGeom prst="rect">
            <a:avLst/>
          </a:prstGeom>
          <a:solidFill>
            <a:srgbClr val="16254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3749040"/>
            <a:ext cx="1298448" cy="256032"/>
          </a:xfrm>
          <a:prstGeom prst="rect">
            <a:avLst/>
          </a:prstGeom>
          <a:solidFill>
            <a:srgbClr val="16254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Pillbox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1298448" cy="256032"/>
          </a:xfrm>
          <a:prstGeom prst="rect">
            <a:avLst/>
          </a:prstGeom>
          <a:solidFill>
            <a:srgbClr val="16254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BE242E-D019-9A40-2DED-9888BBB3BE1F}"/>
              </a:ext>
            </a:extLst>
          </p:cNvPr>
          <p:cNvSpPr/>
          <p:nvPr/>
        </p:nvSpPr>
        <p:spPr>
          <a:xfrm>
            <a:off x="2658793" y="355912"/>
            <a:ext cx="3826413" cy="6414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BD5420B0-4BED-DFCD-38E9-D6BF2D490A0C}"/>
              </a:ext>
            </a:extLst>
          </p:cNvPr>
          <p:cNvSpPr/>
          <p:nvPr/>
        </p:nvSpPr>
        <p:spPr>
          <a:xfrm>
            <a:off x="2771336" y="358024"/>
            <a:ext cx="3643531" cy="748400"/>
          </a:xfrm>
          <a:custGeom>
            <a:avLst/>
            <a:gdLst/>
            <a:ahLst/>
            <a:cxnLst/>
            <a:rect l="l" t="t" r="r" b="b"/>
            <a:pathLst>
              <a:path w="8798254" h="3261792">
                <a:moveTo>
                  <a:pt x="0" y="0"/>
                </a:moveTo>
                <a:lnTo>
                  <a:pt x="8798254" y="0"/>
                </a:lnTo>
                <a:lnTo>
                  <a:pt x="8798254" y="3261792"/>
                </a:lnTo>
                <a:lnTo>
                  <a:pt x="0" y="3261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F2D35-0DA5-72EA-BF67-17A9533B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6CE9AE-9A61-C26D-983E-684D8DB2163D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8A2252-E402-9685-0D32-9E15607C2FA6}"/>
              </a:ext>
            </a:extLst>
          </p:cNvPr>
          <p:cNvSpPr/>
          <p:nvPr/>
        </p:nvSpPr>
        <p:spPr>
          <a:xfrm>
            <a:off x="0" y="164592"/>
            <a:ext cx="109728" cy="47548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717F3E-EF35-9B4B-1034-779B53EB5995}"/>
              </a:ext>
            </a:extLst>
          </p:cNvPr>
          <p:cNvSpPr/>
          <p:nvPr/>
        </p:nvSpPr>
        <p:spPr>
          <a:xfrm>
            <a:off x="457200" y="320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7E94DF-CF63-2C2F-B67F-8A3E514170D2}"/>
              </a:ext>
            </a:extLst>
          </p:cNvPr>
          <p:cNvSpPr/>
          <p:nvPr/>
        </p:nvSpPr>
        <p:spPr>
          <a:xfrm>
            <a:off x="597877" y="661885"/>
            <a:ext cx="559894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5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2C6B1B-0F50-BEF7-1F47-6C75DC2B31EE}"/>
              </a:ext>
            </a:extLst>
          </p:cNvPr>
          <p:cNvSpPr/>
          <p:nvPr/>
        </p:nvSpPr>
        <p:spPr>
          <a:xfrm>
            <a:off x="457200" y="1691640"/>
            <a:ext cx="8229600" cy="222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Medication non-adherence remains a critical challenge in managing long-term conditions, with nearly half of all patients failing to take prescribed medications as directed. Existing reminder tools cannot verify whether a dose was actually taken.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 Mate is an IoT-based smart medication adherence system built on the ESP32 microcontroller, combining automated servo-driven dispensing, infrared sensor-based intake verification, real-time clock scheduling, and cloud-connected caregiver monitoring via Firebase. The system provides automated dispensing, audio-visual reminders, intake verification, and online real-time alerts.</a:t>
            </a: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endParaRPr lang="en-US" sz="1400" dirty="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evaluation achieved 99% alarm accuracy, 98% dispensing accuracy, 95% IR detection accuracy, and caregiver notification within 5 seconds — delivering a reliable, low-cost, and user-friendly closed-loop medication management solution.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FA6F6D-D427-1E77-25C0-AE7E7A73A37D}"/>
              </a:ext>
            </a:extLst>
          </p:cNvPr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0B4355-B7DE-5932-9704-0EC0DB3A63BF}"/>
              </a:ext>
            </a:extLst>
          </p:cNvPr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BD421D-D0E0-6721-5F0B-60C5FDBA97E1}"/>
              </a:ext>
            </a:extLst>
          </p:cNvPr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8FCA59-5655-7FC7-579B-CE2251E472FC}"/>
              </a:ext>
            </a:extLst>
          </p:cNvPr>
          <p:cNvSpPr/>
          <p:nvPr/>
        </p:nvSpPr>
        <p:spPr>
          <a:xfrm>
            <a:off x="4572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6FF05B-E37C-3931-6C6C-9CDEF40201A6}"/>
              </a:ext>
            </a:extLst>
          </p:cNvPr>
          <p:cNvSpPr/>
          <p:nvPr/>
        </p:nvSpPr>
        <p:spPr>
          <a:xfrm>
            <a:off x="59436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87C4753-ABE4-27E4-3C46-BCF324567536}"/>
              </a:ext>
            </a:extLst>
          </p:cNvPr>
          <p:cNvSpPr/>
          <p:nvPr/>
        </p:nvSpPr>
        <p:spPr>
          <a:xfrm>
            <a:off x="7315200" y="37490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E0FB3ED-50BC-7ACE-FBA5-5AB6FF5F4CD8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81DDC40-8E30-D04C-667F-3630FB292035}"/>
              </a:ext>
            </a:extLst>
          </p:cNvPr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423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6012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14300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2728" y="1014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52728" y="1362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medication non-adherence crisis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192024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8600" y="192024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" y="2103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10312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52728" y="19751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252728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existing solutions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28600" y="288036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28600" y="288036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2860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063240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52728" y="29352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252728" y="3282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&amp; architecture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28600" y="384048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384048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8600" y="4023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2336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52728" y="38953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252728" y="4242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&amp; app interface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709160" y="96012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709160" y="96012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709160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088" y="1143000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733288" y="1014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Metrics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733288" y="1362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data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709160" y="192024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192024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709160" y="2103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088" y="2103120"/>
            <a:ext cx="384048" cy="38404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733288" y="19751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5733288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vs. prior systems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4709160" y="2880360"/>
            <a:ext cx="4206240" cy="8046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709160" y="2880360"/>
            <a:ext cx="502920" cy="8046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70916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6088" y="3063240"/>
            <a:ext cx="384048" cy="38404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733288" y="29352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5733288" y="3282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roadmap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 — A Critical Healthcare 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3200400" cy="1920240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32004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68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129844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228600" y="2084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do NOT take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as prescribed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3200400" cy="914400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35808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299923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hospitalizations,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disease progression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increased costs of care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0" y="914400"/>
            <a:ext cx="5212080" cy="107899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914400"/>
            <a:ext cx="7315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207008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15968" y="100584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≠ Verification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315968" y="1335024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organizers, blister packs, and apps remind patients but cannot confirm the medication was actually taken.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0" y="2176272"/>
            <a:ext cx="5212080" cy="107899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0" y="2176272"/>
            <a:ext cx="7315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468880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15968" y="2267712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Sensor-Based Confirmation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315968" y="2596896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physical detection to verify pill removal or ingestion at compartment level.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657600" y="3438144"/>
            <a:ext cx="5212080" cy="107899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657600" y="3438144"/>
            <a:ext cx="73152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730752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315968" y="352958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Caregiver Loop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315968" y="3858768"/>
            <a:ext cx="4407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go undetected — caregivers have no timely mechanism to intervene when a dose is skipped.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systems lack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 System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Gap / Limitation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C4CC"/>
                          </a:solidFill>
                        </a:rPr>
                        <a:t>Minaam &amp; Abd-ELfattah [1]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IoT alerts via Android app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C040"/>
                          </a:solidFill>
                        </a:rPr>
                        <a:t>No intake verification, needs continuous internet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C4CC"/>
                          </a:solidFill>
                        </a:rPr>
                        <a:t>Chawariya et al. [3]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Audio/visual alert system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C040"/>
                          </a:solidFill>
                        </a:rPr>
                        <a:t>Alert only — no dispensing or confirmation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C4CC"/>
                          </a:solidFill>
                        </a:rPr>
                        <a:t>Jayseelan &amp; Shanmugam [5]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Cloud-synced smart pillbox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C040"/>
                          </a:solidFill>
                        </a:rPr>
                        <a:t>No sensor-based ingestion verification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C4CC"/>
                          </a:solidFill>
                        </a:rPr>
                        <a:t>Kim &amp; Park [7]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Bluetooth smart pillbox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C040"/>
                          </a:solidFill>
                        </a:rPr>
                        <a:t>Self-reported compliance, no hardware verification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C4CC"/>
                          </a:solidFill>
                        </a:rPr>
                        <a:t>Rao [8]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Arduino dispensing system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0C040"/>
                          </a:solidFill>
                        </a:rPr>
                        <a:t>No remote monitoring capability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3977640"/>
            <a:ext cx="109728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0507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Identified: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all five critical functions — automated scheduling, controlled dispensing, sensor-based intake verification, real-time caregiver notification, and offline operation — in a single low-cost device.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Pill Mate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integrated, closed-loop IoT medication management 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8686800" cy="62179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109728" cy="6217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is an ESP32-powered IoT device that schedules, dispenses, verifies, and reports medication intake in one integrated, affordable platform.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5634" y="1671242"/>
            <a:ext cx="2029968" cy="26334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664208"/>
            <a:ext cx="2029968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57984"/>
            <a:ext cx="493776" cy="4937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Module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8328" y="31638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RTC-based audio &amp; visual alerts at scheduled dose times using piezo buzzer + LED array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423160" y="1664208"/>
            <a:ext cx="2029968" cy="26334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23160" y="1664208"/>
            <a:ext cx="2029968" cy="38404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23160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157984"/>
            <a:ext cx="493776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514600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Module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532888" y="31638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opens correct compartment at the right time; locks otherwise to prevent unauthorized access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17720" y="1664208"/>
            <a:ext cx="2029968" cy="26334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17720" y="1664208"/>
            <a:ext cx="2029968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17720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157984"/>
            <a:ext cx="493776" cy="4937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09160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Module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727448" y="31638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detects pill removal within the response window; registers dose as taken or missed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812280" y="1664208"/>
            <a:ext cx="2029968" cy="26334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12280" y="1664208"/>
            <a:ext cx="202996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12280" y="16642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2157984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03720" y="27432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 Module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922008" y="31638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records event log; push notification to caregiver within &lt;5 sec on missed dose; online queuing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235634" y="4462272"/>
            <a:ext cx="8686800" cy="2926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320040" y="44805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is the ONLY system that combines all 4 modules in a single, low-cost, online device.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of the Pill Mate prototype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32688"/>
            <a:ext cx="2743200" cy="16642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32688"/>
            <a:ext cx="274320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3716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932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1316736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processor handling scheduling, sensor queries, servo control &amp; Wi-Fi simultaneously — no extra hardware needed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72968" y="932688"/>
            <a:ext cx="2743200" cy="16642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932688"/>
            <a:ext cx="274320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371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72968" y="932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767328" y="1316736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gating of pill compartments; opens on schedule, returns to locked position after window expires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117336" y="932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711696" y="1316736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28072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22960" y="3191256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42316" y="2813890"/>
            <a:ext cx="2743200" cy="16642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35458" y="2823738"/>
            <a:ext cx="274320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38" y="3305556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14884" y="281389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Display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58952" y="3021388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time, next scheduled dose &amp; system status; requires only 2 GPIO connections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172968" y="2823738"/>
            <a:ext cx="2743200" cy="16642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179826" y="2823738"/>
            <a:ext cx="2743200" cy="32918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273552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145536" y="281389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730752" y="2916936"/>
            <a:ext cx="2029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audio &amp; visual alerts functional in loud or dark environments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3619B83-F730-086C-C9DC-B18E7F935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200000">
            <a:off x="6653022" y="1434085"/>
            <a:ext cx="1874520" cy="249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System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linear pipeline per dose cycle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" y="914400"/>
            <a:ext cx="1993392" cy="235915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914400"/>
            <a:ext cx="1993392" cy="5303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144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572768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2608" y="21762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" y="252374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triggers audio/visual alert at scheduled time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94560" y="2029968"/>
            <a:ext cx="219456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14016" y="914400"/>
            <a:ext cx="1993392" cy="235915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14016" y="914400"/>
            <a:ext cx="1993392" cy="5303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14016" y="9144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1572768"/>
            <a:ext cx="493776" cy="4937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05456" y="21762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505456" y="252374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opens compartment; closes after window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407408" y="2029968"/>
            <a:ext cx="219456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26864" y="914400"/>
            <a:ext cx="1993392" cy="235915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626864" y="914400"/>
            <a:ext cx="1993392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26864" y="9144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572768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18304" y="21762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718304" y="252374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detects pill removal — taken or missed?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620256" y="2029968"/>
            <a:ext cx="219456" cy="731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39712" y="914400"/>
            <a:ext cx="1993392" cy="235915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839712" y="914400"/>
            <a:ext cx="199339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839712" y="914400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572768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31152" y="217627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931152" y="252374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 + push notification to caregiver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201168" y="3456432"/>
            <a:ext cx="2743200" cy="129844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01168" y="3456432"/>
            <a:ext cx="73152" cy="12984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584448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95528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95528" y="3840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dosing history, upcoming doses, and missed-dose alerts via push notification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3172968" y="3456432"/>
            <a:ext cx="2743200" cy="129844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172968" y="3456432"/>
            <a:ext cx="73152" cy="12984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584448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767328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3767328" y="3840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queues adherence records in EEPROM when online; syncs to cloud on reconnection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144768" y="3456432"/>
            <a:ext cx="2743200" cy="129844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144768" y="3456432"/>
            <a:ext cx="73152" cy="12984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3584448"/>
            <a:ext cx="347472" cy="34747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739128" y="34930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Scheduling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6739128" y="3840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keypad lets patients input dose schedules directly; LCD confirms entries instantly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and companion app interface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206240" cy="363931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14400"/>
            <a:ext cx="420624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as central processing unit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for mechanical compartment gating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LCD display for patient-facing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 array for multi-modal alerts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keypad for direct schedule input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integrated into a compact housing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63931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showing patient dosing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dose schedule view for caregivers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 incident list with timestamps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on missed dose (&lt;5 sec delay)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without physical presence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with complete auditable dose records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device is online — syncs on reconnect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" y="456285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Pill Mate Hardware Prototype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45537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Caregiver Companion App Interface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evaluation under controlled indoor testing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191663121"/>
              </p:ext>
            </p:extLst>
          </p:nvPr>
        </p:nvGraphicFramePr>
        <p:xfrm>
          <a:off x="322613" y="969264"/>
          <a:ext cx="4677558" cy="3666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914400"/>
            <a:ext cx="3456432" cy="7498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40680" y="914400"/>
            <a:ext cx="960120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9144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0881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969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Accuracy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949440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RTC-based scheduling — negligible deviation from prescribed timing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440680" y="1810512"/>
            <a:ext cx="3456432" cy="7498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810512"/>
            <a:ext cx="960120" cy="7498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40680" y="181051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98424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 Accuracy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949440" y="2157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mechanical servo performance across multiple test cycles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440680" y="2862072"/>
            <a:ext cx="3456432" cy="74980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440680" y="2860665"/>
            <a:ext cx="96012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91443" y="2825496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sec</a:t>
            </a:r>
            <a:endParaRPr lang="en-US" sz="20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443" y="302877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73355" y="290990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Delay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973355" y="320251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push alert to caregiver upon missed dose — clinically negligible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vs. existing systems across 5 capability dimensions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59663"/>
              </p:ext>
            </p:extLst>
          </p:nvPr>
        </p:nvGraphicFramePr>
        <p:xfrm>
          <a:off x="274320" y="914400"/>
          <a:ext cx="8595360" cy="3749039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Auto Dispensing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Intake Verification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Remote Monitoring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Online Operation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Low Cost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Minaam &amp; Abd-ELfattah [1]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Chawariya et al. [3]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Jayseelan &amp; Shanmugam [5]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Kim &amp; Park [7]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Rao [8]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Pill Mate (Proposed)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is the only system achieving all 5 dimensions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roadmap for Pill Mate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46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946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2743200" cy="239572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426464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8328" y="2011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Medication Management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38328" y="2468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Mate closes the gap between reminding and verifying by integrating intake detection with automated dispensing.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72968" y="914400"/>
            <a:ext cx="2743200" cy="239572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72968" y="914400"/>
            <a:ext cx="27432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72968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26464"/>
            <a:ext cx="493776" cy="4937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82696" y="2011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Performance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282696" y="2468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alarm accuracy, 98% dispensing reliability, and &lt;5 second caregiver notification validated on prototype.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17336" y="914400"/>
            <a:ext cx="2743200" cy="2395728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17336" y="914400"/>
            <a:ext cx="2743200" cy="38404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17336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1426464"/>
            <a:ext cx="493776" cy="4937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27064" y="201168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Integration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227064" y="246888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system achieves all five capabilities. Pill Mate is the only solution that is automated, verifiable, </a:t>
            </a:r>
            <a:r>
              <a:rPr lang="en-US" sz="900" dirty="0" err="1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connected,online</a:t>
            </a:r>
            <a:r>
              <a:rPr lang="en-US" sz="9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low-cost.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28600" y="3456432"/>
            <a:ext cx="8686800" cy="1261872"/>
          </a:xfrm>
          <a:prstGeom prst="rect">
            <a:avLst/>
          </a:prstGeom>
          <a:solidFill>
            <a:srgbClr val="162545"/>
          </a:solidFill>
          <a:ln w="12700">
            <a:solidFill>
              <a:srgbClr val="1E36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3456432"/>
            <a:ext cx="1828800" cy="32918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8600" y="3456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95344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8952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 for compartment access outside scheduled windows</a:t>
            </a:r>
            <a:endParaRPr lang="en-US" sz="95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89534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56632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 support for clinical and assisted-living deployments</a:t>
            </a:r>
            <a:endParaRPr lang="en-US" sz="95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9768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58952" y="42611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so physicians access real-world adherence data</a:t>
            </a:r>
            <a:endParaRPr lang="en-US" sz="95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56632" y="42611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sensor modality to supplement for stronger ingestion confirmation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5858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7732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29730" y="2999232"/>
            <a:ext cx="45720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46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1232</Words>
  <Application>Microsoft Office PowerPoint</Application>
  <PresentationFormat>On-screen Show (16:9)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 Mate - ICCET Conference</dc:title>
  <dc:subject>PptxGenJS Presentation</dc:subject>
  <dc:creator>Kishore.K, Madesh.B, Narain Kishore.M</dc:creator>
  <cp:lastModifiedBy>madesh b</cp:lastModifiedBy>
  <cp:revision>4</cp:revision>
  <dcterms:created xsi:type="dcterms:W3CDTF">2026-03-25T04:43:54Z</dcterms:created>
  <dcterms:modified xsi:type="dcterms:W3CDTF">2026-04-19T17:46:49Z</dcterms:modified>
</cp:coreProperties>
</file>